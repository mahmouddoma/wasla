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افتح بسؤال: هل متابعة الحجز والدور والحسابات بتاخد من وقتك مع المريض؟ قدّم وصلة باعتبارها بوابة تجمع جوانب إدارة العيادة. لا تعد بتوفير نسبة وقت أو زيادة إيرادات محددة.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35 ثانية. هذه خريطة البوابة وليست قائمة بكل الأزرار. اربط كل عمود بجزء من يوم الطبيب. المصادر: src/app/app.routes.ts؛ doctor-practices؛ doctor-receptions؛ reservations؛ tickets؛ encounters؛ prescriptions؛ operating-finance؛ doctor-reports.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35 ثانية. لا تقرأ أسماء كل المؤشرات. اعرض أن الطبيب يستطيع اختيار العيادة والفترة ثم فتح التفاصيل المتاحة. المصدر: features/doctor-dashboard/pages/doctor-dashboard/dashboard-presentation.ts وdoctor-dashboard.component.html. تحتوي الشريحة على لقطة فعلية من الحساب التجريبي.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40 ثانية. مثال سردي: المريض له موعد، الاستقبال يتابع وصوله، ويظهر ضمن سير الدور، ثم يبدأ الكشف. لا تقدّم الرسم كشرط تقني ثابت لكل نوع حجز؛ مسار الحضور المباشر قد يختلف. المصادر: features/reservations؛ features/tickets؛ app.routes.ts.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45 ثانية. الرسالة هي استمرارية متابعة المريض، وليست أن المنصة تقرر التشخيص أو تقترح العلاج تلقائيًا. إظهار السجل المشترك والسجلات الأخرى يعتمد على التصاريح والإتاحة. المصادر: doctor-patients/components/patient-detail-drawer؛ encounters؛ prescriptions/components/prescription-workspace.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35 ثانية. ركّز على الفصل بين مسؤولية الطبيب ومهام الاستقبال. لا تعد بأن جميع أعضاء الفريق يطلعون على كل البيانات. المصادر: features/doctor-practices/components/practice-schedule؛ doctor-receptions/pages/doctor-receptions؛ doctor-profile.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40 ثانية. وضّح أن هذا متابعة تشغيلية للعيادة، دون تقديمه كنظام محاسبة ضريبية متكامل. لا تعد بزيادة الأرباح. المصادر: features/finance؛ features/operating-finance/pages/operating-finance؛ المسارات doctor/finance وdoctor/revenue وdoctor/expenses وdoctor/salaries.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40 ثانية. ملاحظات الأداء معلومات تشغيلية وليست استشارة طبية أو ضمانًا لنتيجة. وضّح أن اكتمال البيانات يؤثر في دلالة المؤشرات، وأن بعض التقارير لها حدود أو صلاحيات للتصدير. المصادر: features/doctor-reports؛ domains/phase18 ReportCatalogEntry وDoctorInsightResponse؛ reporting.
الصورة من الحساب التجريبي للمنصة. الأرقام والبيانات الظاهرة ليست نتائج تجارية أو وعودًا لعيادة العميل. أسماء المرضى وبيانات الاتصال محجوبة في اللقطات التي تحتوي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اختم بدعوة لعرض تجريبي مخصص، وليس وعدًا بتجربة مجانية أو سعر غير معتمد. اسأل الطبيب: ما الأكثر احتياجًا للتنظيم في عيادتك الآن؟ ثم اختر جزء العرض العملي بناء على إجابته. لا تستخدم بيانات مرضى حقيقية في العرض. إجمالي المدة المقترحة: نحو خمس دقائق.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51"/>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FFFFFF"/>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B7D1DE"/>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35556C"/>
          </a:solidFill>
          <a:ln w="12700">
            <a:solidFill>
              <a:srgbClr val="35556C">
                <a:alpha val="0"/>
              </a:srgbClr>
            </a:solidFill>
            <a:prstDash val="solid"/>
          </a:ln>
        </p:spPr>
      </p:sp>
      <p:sp>
        <p:nvSpPr>
          <p:cNvPr id="5" name="Shape 3"/>
          <p:cNvSpPr/>
          <p:nvPr/>
        </p:nvSpPr>
        <p:spPr>
          <a:xfrm>
            <a:off x="640080" y="6318504"/>
            <a:ext cx="10908792" cy="10973"/>
          </a:xfrm>
          <a:prstGeom prst="rect">
            <a:avLst>
              <a:gd name="adj" fmla="val 999982"/>
            </a:avLst>
          </a:prstGeom>
          <a:solidFill>
            <a:srgbClr val="35556C"/>
          </a:solidFill>
          <a:ln w="12700">
            <a:solidFill>
              <a:srgbClr val="35556C">
                <a:alpha val="0"/>
              </a:srgbClr>
            </a:solidFill>
            <a:prstDash val="solid"/>
          </a:ln>
        </p:spPr>
      </p:sp>
      <p:sp>
        <p:nvSpPr>
          <p:cNvPr id="6" name="Text 4"/>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B7D1DE"/>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7" name="Text 5"/>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B7D1DE"/>
                </a:solidFill>
                <a:latin typeface="Tahoma" pitchFamily="34" charset="0"/>
                <a:ea typeface="Tahoma" pitchFamily="34" charset="-122"/>
                <a:cs typeface="Tahoma" pitchFamily="34" charset="-120"/>
              </a:rPr>
              <a:t>01 / 09</a:t>
            </a:r>
            <a:endParaRPr lang="ar-EG" sz="1000" dirty="0"/>
          </a:p>
        </p:txBody>
      </p:sp>
      <p:sp>
        <p:nvSpPr>
          <p:cNvPr id="8" name="Text 6"/>
          <p:cNvSpPr/>
          <p:nvPr/>
        </p:nvSpPr>
        <p:spPr>
          <a:xfrm>
            <a:off x="5687568" y="1627632"/>
            <a:ext cx="5779008" cy="822960"/>
          </a:xfrm>
          <a:prstGeom prst="rect">
            <a:avLst/>
          </a:prstGeom>
          <a:noFill/>
          <a:ln/>
        </p:spPr>
        <p:txBody>
          <a:bodyPr wrap="square" lIns="0" tIns="0" rIns="0" bIns="0" rtlCol="0" anchor="ctr"/>
          <a:lstStyle/>
          <a:p>
            <a:pPr rtl="1" algn="r" indent="0" marL="0">
              <a:lnSpc>
                <a:spcPct val="112000"/>
              </a:lnSpc>
              <a:buNone/>
            </a:pPr>
            <a:r>
              <a:rPr lang="ar-EG" altLang="en-US" sz="4000" b="1" dirty="0">
                <a:solidFill>
                  <a:srgbClr val="FFFFFF"/>
                </a:solidFill>
                <a:latin typeface="Tahoma" pitchFamily="34" charset="0"/>
                <a:ea typeface="Tahoma" pitchFamily="34" charset="-122"/>
                <a:cs typeface="Tahoma" pitchFamily="34" charset="-120"/>
              </a:rPr>
              <a:t>وقتُك للمريض.</a:t>
            </a:r>
            <a:endParaRPr lang="ar-EG" sz="4000" dirty="0"/>
          </a:p>
        </p:txBody>
      </p:sp>
      <p:sp>
        <p:nvSpPr>
          <p:cNvPr id="9" name="Text 7"/>
          <p:cNvSpPr/>
          <p:nvPr/>
        </p:nvSpPr>
        <p:spPr>
          <a:xfrm>
            <a:off x="5303520" y="2615184"/>
            <a:ext cx="6163056" cy="731520"/>
          </a:xfrm>
          <a:prstGeom prst="rect">
            <a:avLst/>
          </a:prstGeom>
          <a:noFill/>
          <a:ln/>
        </p:spPr>
        <p:txBody>
          <a:bodyPr wrap="square" lIns="0" tIns="0" rIns="0" bIns="0" rtlCol="0" anchor="ctr"/>
          <a:lstStyle/>
          <a:p>
            <a:pPr rtl="1" algn="r" indent="0" marL="0">
              <a:lnSpc>
                <a:spcPct val="112000"/>
              </a:lnSpc>
              <a:buNone/>
            </a:pPr>
            <a:r>
              <a:rPr lang="ar-EG" altLang="en-US" sz="3100" b="1" dirty="0">
                <a:solidFill>
                  <a:srgbClr val="FFFFFF"/>
                </a:solidFill>
                <a:latin typeface="Tahoma" pitchFamily="34" charset="0"/>
                <a:ea typeface="Tahoma" pitchFamily="34" charset="-122"/>
                <a:cs typeface="Tahoma" pitchFamily="34" charset="-120"/>
              </a:rPr>
              <a:t>وتنظيم عيادتك على وصلة.</a:t>
            </a:r>
            <a:endParaRPr lang="ar-EG" sz="3100" dirty="0"/>
          </a:p>
        </p:txBody>
      </p:sp>
      <p:sp>
        <p:nvSpPr>
          <p:cNvPr id="10" name="Text 8"/>
          <p:cNvSpPr/>
          <p:nvPr/>
        </p:nvSpPr>
        <p:spPr>
          <a:xfrm>
            <a:off x="5760720" y="3730752"/>
            <a:ext cx="5705856" cy="914400"/>
          </a:xfrm>
          <a:prstGeom prst="rect">
            <a:avLst/>
          </a:prstGeom>
          <a:noFill/>
          <a:ln/>
        </p:spPr>
        <p:txBody>
          <a:bodyPr wrap="square" lIns="0" tIns="0" rIns="0" bIns="0" rtlCol="0" anchor="ctr"/>
          <a:lstStyle/>
          <a:p>
            <a:pPr rtl="1" algn="r" indent="0" marL="0">
              <a:lnSpc>
                <a:spcPct val="112000"/>
              </a:lnSpc>
              <a:buNone/>
            </a:pPr>
            <a:r>
              <a:rPr lang="ar-EG" altLang="en-US" sz="2100" dirty="0">
                <a:solidFill>
                  <a:srgbClr val="CEE0E7"/>
                </a:solidFill>
                <a:latin typeface="Tahoma" pitchFamily="34" charset="0"/>
                <a:ea typeface="Tahoma" pitchFamily="34" charset="-122"/>
                <a:cs typeface="Tahoma" pitchFamily="34" charset="-120"/>
              </a:rPr>
              <a:t>بوابة واحدة للحجوزات، والكشف،</a:t>
            </a:r>
            <a:endParaRPr lang="ar-EG" sz="2100" dirty="0"/>
          </a:p>
          <a:p>
            <a:pPr rtl="1" algn="r" indent="0" marL="0">
              <a:lnSpc>
                <a:spcPct val="112000"/>
              </a:lnSpc>
              <a:buNone/>
            </a:pPr>
            <a:r>
              <a:rPr lang="ar-EG" altLang="en-US" sz="2100" dirty="0">
                <a:solidFill>
                  <a:srgbClr val="CEE0E7"/>
                </a:solidFill>
                <a:latin typeface="Tahoma" pitchFamily="34" charset="0"/>
                <a:ea typeface="Tahoma" pitchFamily="34" charset="-122"/>
                <a:cs typeface="Tahoma" pitchFamily="34" charset="-120"/>
              </a:rPr>
              <a:t>وفريق العيادة، والمتابعة المالية.</a:t>
            </a:r>
            <a:endParaRPr lang="ar-EG" sz="2100" dirty="0"/>
          </a:p>
        </p:txBody>
      </p:sp>
      <p:sp>
        <p:nvSpPr>
          <p:cNvPr id="11" name="Shape 9"/>
          <p:cNvSpPr/>
          <p:nvPr/>
        </p:nvSpPr>
        <p:spPr>
          <a:xfrm>
            <a:off x="7534656" y="5230368"/>
            <a:ext cx="3931920" cy="457200"/>
          </a:xfrm>
          <a:prstGeom prst="roundRect">
            <a:avLst>
              <a:gd name="adj" fmla="val 24000"/>
            </a:avLst>
          </a:prstGeom>
          <a:solidFill>
            <a:srgbClr val="047C79"/>
          </a:solidFill>
          <a:ln w="12700">
            <a:solidFill>
              <a:srgbClr val="047C79">
                <a:alpha val="0"/>
              </a:srgbClr>
            </a:solidFill>
            <a:prstDash val="solid"/>
          </a:ln>
        </p:spPr>
      </p:sp>
      <p:sp>
        <p:nvSpPr>
          <p:cNvPr id="12" name="Text 10"/>
          <p:cNvSpPr/>
          <p:nvPr/>
        </p:nvSpPr>
        <p:spPr>
          <a:xfrm>
            <a:off x="7680960" y="5285232"/>
            <a:ext cx="3639312" cy="274320"/>
          </a:xfrm>
          <a:prstGeom prst="rect">
            <a:avLst/>
          </a:prstGeom>
          <a:noFill/>
          <a:ln/>
        </p:spPr>
        <p:txBody>
          <a:bodyPr wrap="square" lIns="0" tIns="0" rIns="0" bIns="0" rtlCol="0" anchor="ctr"/>
          <a:lstStyle/>
          <a:p>
            <a:pPr rtl="1" algn="ctr" indent="0" marL="0">
              <a:lnSpc>
                <a:spcPct val="112000"/>
              </a:lnSpc>
              <a:buNone/>
            </a:pPr>
            <a:r>
              <a:rPr lang="ar-EG" altLang="en-US" sz="1600" b="1" dirty="0">
                <a:solidFill>
                  <a:srgbClr val="FFFFFF"/>
                </a:solidFill>
                <a:latin typeface="Tahoma" pitchFamily="34" charset="0"/>
                <a:ea typeface="Tahoma" pitchFamily="34" charset="-122"/>
                <a:cs typeface="Tahoma" pitchFamily="34" charset="-120"/>
              </a:rPr>
              <a:t>تعرّف على بوابة الدكتور</a:t>
            </a:r>
            <a:endParaRPr lang="ar-EG" sz="1600" dirty="0"/>
          </a:p>
        </p:txBody>
      </p:sp>
      <p:sp>
        <p:nvSpPr>
          <p:cNvPr id="13" name="Shape 11"/>
          <p:cNvSpPr/>
          <p:nvPr/>
        </p:nvSpPr>
        <p:spPr>
          <a:xfrm>
            <a:off x="786384" y="1737360"/>
            <a:ext cx="4151376" cy="850392"/>
          </a:xfrm>
          <a:prstGeom prst="roundRect">
            <a:avLst>
              <a:gd name="adj" fmla="val 12903"/>
            </a:avLst>
          </a:prstGeom>
          <a:solidFill>
            <a:srgbClr val="24485F"/>
          </a:solidFill>
          <a:ln w="12700">
            <a:solidFill>
              <a:srgbClr val="24485F">
                <a:alpha val="0"/>
              </a:srgbClr>
            </a:solidFill>
            <a:prstDash val="solid"/>
          </a:ln>
        </p:spPr>
      </p:sp>
      <p:sp>
        <p:nvSpPr>
          <p:cNvPr id="14" name="Text 12"/>
          <p:cNvSpPr/>
          <p:nvPr/>
        </p:nvSpPr>
        <p:spPr>
          <a:xfrm>
            <a:off x="1005840" y="1874520"/>
            <a:ext cx="3712464" cy="502920"/>
          </a:xfrm>
          <a:prstGeom prst="rect">
            <a:avLst/>
          </a:prstGeom>
          <a:noFill/>
          <a:ln/>
        </p:spPr>
        <p:txBody>
          <a:bodyPr wrap="square" lIns="0" tIns="0" rIns="0" bIns="0" rtlCol="0" anchor="ctr"/>
          <a:lstStyle/>
          <a:p>
            <a:pPr rtl="1" algn="ctr" indent="0" marL="0">
              <a:lnSpc>
                <a:spcPct val="112000"/>
              </a:lnSpc>
              <a:buNone/>
            </a:pPr>
            <a:r>
              <a:rPr lang="ar-EG" altLang="en-US" sz="2500" b="1" dirty="0">
                <a:solidFill>
                  <a:srgbClr val="FFFFFF"/>
                </a:solidFill>
                <a:latin typeface="Tahoma" pitchFamily="34" charset="0"/>
                <a:ea typeface="Tahoma" pitchFamily="34" charset="-122"/>
                <a:cs typeface="Tahoma" pitchFamily="34" charset="-120"/>
              </a:rPr>
              <a:t>قبل الكشف</a:t>
            </a:r>
            <a:endParaRPr lang="ar-EG" sz="2500" dirty="0"/>
          </a:p>
        </p:txBody>
      </p:sp>
      <p:sp>
        <p:nvSpPr>
          <p:cNvPr id="15" name="Shape 13"/>
          <p:cNvSpPr/>
          <p:nvPr/>
        </p:nvSpPr>
        <p:spPr>
          <a:xfrm>
            <a:off x="2816352" y="2606040"/>
            <a:ext cx="36576" cy="320040"/>
          </a:xfrm>
          <a:prstGeom prst="rect">
            <a:avLst>
              <a:gd name="adj" fmla="val 300000"/>
            </a:avLst>
          </a:prstGeom>
          <a:solidFill>
            <a:srgbClr val="86B7BF"/>
          </a:solidFill>
          <a:ln w="12700">
            <a:solidFill>
              <a:srgbClr val="86B7BF">
                <a:alpha val="0"/>
              </a:srgbClr>
            </a:solidFill>
            <a:prstDash val="solid"/>
          </a:ln>
        </p:spPr>
      </p:sp>
      <p:sp>
        <p:nvSpPr>
          <p:cNvPr id="16" name="Shape 14"/>
          <p:cNvSpPr/>
          <p:nvPr/>
        </p:nvSpPr>
        <p:spPr>
          <a:xfrm>
            <a:off x="786384" y="2944368"/>
            <a:ext cx="4151376" cy="850392"/>
          </a:xfrm>
          <a:prstGeom prst="roundRect">
            <a:avLst>
              <a:gd name="adj" fmla="val 12903"/>
            </a:avLst>
          </a:prstGeom>
          <a:solidFill>
            <a:srgbClr val="047C79"/>
          </a:solidFill>
          <a:ln w="12700">
            <a:solidFill>
              <a:srgbClr val="047C79">
                <a:alpha val="0"/>
              </a:srgbClr>
            </a:solidFill>
            <a:prstDash val="solid"/>
          </a:ln>
        </p:spPr>
      </p:sp>
      <p:sp>
        <p:nvSpPr>
          <p:cNvPr id="17" name="Text 15"/>
          <p:cNvSpPr/>
          <p:nvPr/>
        </p:nvSpPr>
        <p:spPr>
          <a:xfrm>
            <a:off x="1005840" y="3081528"/>
            <a:ext cx="3712464" cy="502920"/>
          </a:xfrm>
          <a:prstGeom prst="rect">
            <a:avLst/>
          </a:prstGeom>
          <a:noFill/>
          <a:ln/>
        </p:spPr>
        <p:txBody>
          <a:bodyPr wrap="square" lIns="0" tIns="0" rIns="0" bIns="0" rtlCol="0" anchor="ctr"/>
          <a:lstStyle/>
          <a:p>
            <a:pPr rtl="1" algn="ctr" indent="0" marL="0">
              <a:lnSpc>
                <a:spcPct val="112000"/>
              </a:lnSpc>
              <a:buNone/>
            </a:pPr>
            <a:r>
              <a:rPr lang="ar-EG" altLang="en-US" sz="2500" b="1" dirty="0">
                <a:solidFill>
                  <a:srgbClr val="FFFFFF"/>
                </a:solidFill>
                <a:latin typeface="Tahoma" pitchFamily="34" charset="0"/>
                <a:ea typeface="Tahoma" pitchFamily="34" charset="-122"/>
                <a:cs typeface="Tahoma" pitchFamily="34" charset="-120"/>
              </a:rPr>
              <a:t>أثناء الكشف</a:t>
            </a:r>
            <a:endParaRPr lang="ar-EG" sz="2500" dirty="0"/>
          </a:p>
        </p:txBody>
      </p:sp>
      <p:sp>
        <p:nvSpPr>
          <p:cNvPr id="18" name="Shape 16"/>
          <p:cNvSpPr/>
          <p:nvPr/>
        </p:nvSpPr>
        <p:spPr>
          <a:xfrm>
            <a:off x="2816352" y="3813048"/>
            <a:ext cx="36576" cy="320040"/>
          </a:xfrm>
          <a:prstGeom prst="rect">
            <a:avLst>
              <a:gd name="adj" fmla="val 300000"/>
            </a:avLst>
          </a:prstGeom>
          <a:solidFill>
            <a:srgbClr val="86B7BF"/>
          </a:solidFill>
          <a:ln w="12700">
            <a:solidFill>
              <a:srgbClr val="86B7BF">
                <a:alpha val="0"/>
              </a:srgbClr>
            </a:solidFill>
            <a:prstDash val="solid"/>
          </a:ln>
        </p:spPr>
      </p:sp>
      <p:sp>
        <p:nvSpPr>
          <p:cNvPr id="19" name="Shape 17"/>
          <p:cNvSpPr/>
          <p:nvPr/>
        </p:nvSpPr>
        <p:spPr>
          <a:xfrm>
            <a:off x="786384" y="4151376"/>
            <a:ext cx="4151376" cy="850392"/>
          </a:xfrm>
          <a:prstGeom prst="roundRect">
            <a:avLst>
              <a:gd name="adj" fmla="val 12903"/>
            </a:avLst>
          </a:prstGeom>
          <a:solidFill>
            <a:srgbClr val="24485F"/>
          </a:solidFill>
          <a:ln w="12700">
            <a:solidFill>
              <a:srgbClr val="24485F">
                <a:alpha val="0"/>
              </a:srgbClr>
            </a:solidFill>
            <a:prstDash val="solid"/>
          </a:ln>
        </p:spPr>
      </p:sp>
      <p:sp>
        <p:nvSpPr>
          <p:cNvPr id="20" name="Text 18"/>
          <p:cNvSpPr/>
          <p:nvPr/>
        </p:nvSpPr>
        <p:spPr>
          <a:xfrm>
            <a:off x="1005840" y="4288536"/>
            <a:ext cx="3712464" cy="502920"/>
          </a:xfrm>
          <a:prstGeom prst="rect">
            <a:avLst/>
          </a:prstGeom>
          <a:noFill/>
          <a:ln/>
        </p:spPr>
        <p:txBody>
          <a:bodyPr wrap="square" lIns="0" tIns="0" rIns="0" bIns="0" rtlCol="0" anchor="ctr"/>
          <a:lstStyle/>
          <a:p>
            <a:pPr rtl="1" algn="ctr" indent="0" marL="0">
              <a:lnSpc>
                <a:spcPct val="112000"/>
              </a:lnSpc>
              <a:buNone/>
            </a:pPr>
            <a:r>
              <a:rPr lang="ar-EG" altLang="en-US" sz="2500" b="1" dirty="0">
                <a:solidFill>
                  <a:srgbClr val="FFFFFF"/>
                </a:solidFill>
                <a:latin typeface="Tahoma" pitchFamily="34" charset="0"/>
                <a:ea typeface="Tahoma" pitchFamily="34" charset="-122"/>
                <a:cs typeface="Tahoma" pitchFamily="34" charset="-120"/>
              </a:rPr>
              <a:t>بعد الكشف</a:t>
            </a:r>
            <a:endParaRPr lang="ar-EG" sz="2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من أول الحجز… لآخر متابعة.</a:t>
            </a:r>
            <a:endParaRPr lang="ar-EG" sz="3000" dirty="0"/>
          </a:p>
        </p:txBody>
      </p:sp>
      <p:sp>
        <p:nvSpPr>
          <p:cNvPr id="6" name="Text 4"/>
          <p:cNvSpPr/>
          <p:nvPr/>
        </p:nvSpPr>
        <p:spPr>
          <a:xfrm>
            <a:off x="640080" y="1828800"/>
            <a:ext cx="10881360" cy="411480"/>
          </a:xfrm>
          <a:prstGeom prst="rect">
            <a:avLst/>
          </a:prstGeom>
          <a:noFill/>
          <a:ln/>
        </p:spPr>
        <p:txBody>
          <a:bodyPr wrap="square" lIns="0" tIns="0" rIns="0" bIns="0" rtlCol="0" anchor="ctr"/>
          <a:lstStyle/>
          <a:p>
            <a:pPr rtl="1" algn="r" indent="0" marL="0">
              <a:lnSpc>
                <a:spcPct val="112000"/>
              </a:lnSpc>
              <a:buNone/>
            </a:pPr>
            <a:r>
              <a:rPr lang="ar-EG" altLang="en-US" sz="1600" dirty="0">
                <a:solidFill>
                  <a:srgbClr val="526779"/>
                </a:solidFill>
                <a:latin typeface="Tahoma" pitchFamily="34" charset="0"/>
                <a:ea typeface="Tahoma" pitchFamily="34" charset="-122"/>
                <a:cs typeface="Tahoma" pitchFamily="34" charset="-120"/>
              </a:rPr>
              <a:t>وصلة تجمع تفاصيل يوم العيادة في مسار واضح للدكتور وفريقه.</a:t>
            </a:r>
            <a:endParaRPr lang="ar-EG" sz="1600" dirty="0"/>
          </a:p>
        </p:txBody>
      </p:sp>
      <p:sp>
        <p:nvSpPr>
          <p:cNvPr id="7" name="Shape 5"/>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8" name="Text 6"/>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9" name="Text 7"/>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02 / 09</a:t>
            </a:r>
            <a:endParaRPr lang="ar-EG" sz="1000" dirty="0"/>
          </a:p>
        </p:txBody>
      </p:sp>
      <p:sp>
        <p:nvSpPr>
          <p:cNvPr id="10" name="Text 8"/>
          <p:cNvSpPr/>
          <p:nvPr/>
        </p:nvSpPr>
        <p:spPr>
          <a:xfrm>
            <a:off x="7927848" y="2724912"/>
            <a:ext cx="3364992"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047C79"/>
                </a:solidFill>
                <a:latin typeface="Tahoma" pitchFamily="34" charset="0"/>
                <a:ea typeface="Tahoma" pitchFamily="34" charset="-122"/>
                <a:cs typeface="Tahoma" pitchFamily="34" charset="-120"/>
              </a:rPr>
              <a:t>قبل الكشف</a:t>
            </a:r>
            <a:endParaRPr lang="ar-EG" sz="2400" dirty="0"/>
          </a:p>
        </p:txBody>
      </p:sp>
      <p:sp>
        <p:nvSpPr>
          <p:cNvPr id="11" name="Text 9"/>
          <p:cNvSpPr/>
          <p:nvPr/>
        </p:nvSpPr>
        <p:spPr>
          <a:xfrm>
            <a:off x="7927848" y="349300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مواعيد العيادة والحجوزات</a:t>
            </a:r>
            <a:endParaRPr lang="ar-EG" sz="1700" dirty="0"/>
          </a:p>
        </p:txBody>
      </p:sp>
      <p:sp>
        <p:nvSpPr>
          <p:cNvPr id="12" name="Text 10"/>
          <p:cNvSpPr/>
          <p:nvPr/>
        </p:nvSpPr>
        <p:spPr>
          <a:xfrm>
            <a:off x="7927848" y="408736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تنظيم فريق الاستقبال</a:t>
            </a:r>
            <a:endParaRPr lang="ar-EG" sz="1700" dirty="0"/>
          </a:p>
        </p:txBody>
      </p:sp>
      <p:sp>
        <p:nvSpPr>
          <p:cNvPr id="13" name="Text 11"/>
          <p:cNvSpPr/>
          <p:nvPr/>
        </p:nvSpPr>
        <p:spPr>
          <a:xfrm>
            <a:off x="7927848" y="468172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متابعة الوصول وقائمة الانتظار</a:t>
            </a:r>
            <a:endParaRPr lang="ar-EG" sz="1700" dirty="0"/>
          </a:p>
        </p:txBody>
      </p:sp>
      <p:sp>
        <p:nvSpPr>
          <p:cNvPr id="14" name="Shape 12"/>
          <p:cNvSpPr/>
          <p:nvPr/>
        </p:nvSpPr>
        <p:spPr>
          <a:xfrm>
            <a:off x="7772400" y="2724912"/>
            <a:ext cx="10973" cy="2606040"/>
          </a:xfrm>
          <a:prstGeom prst="rect">
            <a:avLst>
              <a:gd name="adj" fmla="val 999982"/>
            </a:avLst>
          </a:prstGeom>
          <a:solidFill>
            <a:srgbClr val="E3EAF0"/>
          </a:solidFill>
          <a:ln w="12700">
            <a:solidFill>
              <a:srgbClr val="E3EAF0">
                <a:alpha val="0"/>
              </a:srgbClr>
            </a:solidFill>
            <a:prstDash val="solid"/>
          </a:ln>
        </p:spPr>
      </p:sp>
      <p:sp>
        <p:nvSpPr>
          <p:cNvPr id="15" name="Text 13"/>
          <p:cNvSpPr/>
          <p:nvPr/>
        </p:nvSpPr>
        <p:spPr>
          <a:xfrm>
            <a:off x="4233672" y="2724912"/>
            <a:ext cx="3364992"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047C79"/>
                </a:solidFill>
                <a:latin typeface="Tahoma" pitchFamily="34" charset="0"/>
                <a:ea typeface="Tahoma" pitchFamily="34" charset="-122"/>
                <a:cs typeface="Tahoma" pitchFamily="34" charset="-120"/>
              </a:rPr>
              <a:t>أثناء الكشف</a:t>
            </a:r>
            <a:endParaRPr lang="ar-EG" sz="2400" dirty="0"/>
          </a:p>
        </p:txBody>
      </p:sp>
      <p:sp>
        <p:nvSpPr>
          <p:cNvPr id="16" name="Text 14"/>
          <p:cNvSpPr/>
          <p:nvPr/>
        </p:nvSpPr>
        <p:spPr>
          <a:xfrm>
            <a:off x="4233672" y="349300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فتح سجل المريض</a:t>
            </a:r>
            <a:endParaRPr lang="ar-EG" sz="1700" dirty="0"/>
          </a:p>
        </p:txBody>
      </p:sp>
      <p:sp>
        <p:nvSpPr>
          <p:cNvPr id="17" name="Text 15"/>
          <p:cNvSpPr/>
          <p:nvPr/>
        </p:nvSpPr>
        <p:spPr>
          <a:xfrm>
            <a:off x="4233672" y="408736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تسجيل الكشف والتشخيص</a:t>
            </a:r>
            <a:endParaRPr lang="ar-EG" sz="1700" dirty="0"/>
          </a:p>
        </p:txBody>
      </p:sp>
      <p:sp>
        <p:nvSpPr>
          <p:cNvPr id="18" name="Text 16"/>
          <p:cNvSpPr/>
          <p:nvPr/>
        </p:nvSpPr>
        <p:spPr>
          <a:xfrm>
            <a:off x="4233672" y="468172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إعداد الروشتة</a:t>
            </a:r>
            <a:endParaRPr lang="ar-EG" sz="1700" dirty="0"/>
          </a:p>
        </p:txBody>
      </p:sp>
      <p:sp>
        <p:nvSpPr>
          <p:cNvPr id="19" name="Shape 17"/>
          <p:cNvSpPr/>
          <p:nvPr/>
        </p:nvSpPr>
        <p:spPr>
          <a:xfrm>
            <a:off x="4178808" y="2724912"/>
            <a:ext cx="10973" cy="2606040"/>
          </a:xfrm>
          <a:prstGeom prst="rect">
            <a:avLst>
              <a:gd name="adj" fmla="val 999982"/>
            </a:avLst>
          </a:prstGeom>
          <a:solidFill>
            <a:srgbClr val="E3EAF0"/>
          </a:solidFill>
          <a:ln w="12700">
            <a:solidFill>
              <a:srgbClr val="E3EAF0">
                <a:alpha val="0"/>
              </a:srgbClr>
            </a:solidFill>
            <a:prstDash val="solid"/>
          </a:ln>
        </p:spPr>
      </p:sp>
      <p:sp>
        <p:nvSpPr>
          <p:cNvPr id="20" name="Text 18"/>
          <p:cNvSpPr/>
          <p:nvPr/>
        </p:nvSpPr>
        <p:spPr>
          <a:xfrm>
            <a:off x="640080" y="2724912"/>
            <a:ext cx="3364992"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047C79"/>
                </a:solidFill>
                <a:latin typeface="Tahoma" pitchFamily="34" charset="0"/>
                <a:ea typeface="Tahoma" pitchFamily="34" charset="-122"/>
                <a:cs typeface="Tahoma" pitchFamily="34" charset="-120"/>
              </a:rPr>
              <a:t>بعد الكشف</a:t>
            </a:r>
            <a:endParaRPr lang="ar-EG" sz="2400" dirty="0"/>
          </a:p>
        </p:txBody>
      </p:sp>
      <p:sp>
        <p:nvSpPr>
          <p:cNvPr id="21" name="Text 19"/>
          <p:cNvSpPr/>
          <p:nvPr/>
        </p:nvSpPr>
        <p:spPr>
          <a:xfrm>
            <a:off x="640080" y="349300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مراجعة الزيارات والمتابعات</a:t>
            </a:r>
            <a:endParaRPr lang="ar-EG" sz="1700" dirty="0"/>
          </a:p>
        </p:txBody>
      </p:sp>
      <p:sp>
        <p:nvSpPr>
          <p:cNvPr id="22" name="Text 20"/>
          <p:cNvSpPr/>
          <p:nvPr/>
        </p:nvSpPr>
        <p:spPr>
          <a:xfrm>
            <a:off x="640080" y="408736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الإيرادات والمصروفات والرواتب</a:t>
            </a:r>
            <a:endParaRPr lang="ar-EG" sz="1700" dirty="0"/>
          </a:p>
        </p:txBody>
      </p:sp>
      <p:sp>
        <p:nvSpPr>
          <p:cNvPr id="23" name="Text 21"/>
          <p:cNvSpPr/>
          <p:nvPr/>
        </p:nvSpPr>
        <p:spPr>
          <a:xfrm>
            <a:off x="640080" y="4681728"/>
            <a:ext cx="3364992" cy="457200"/>
          </a:xfrm>
          <a:prstGeom prst="rect">
            <a:avLst/>
          </a:prstGeom>
          <a:noFill/>
          <a:ln/>
        </p:spPr>
        <p:txBody>
          <a:bodyPr wrap="square" lIns="0" tIns="0" rIns="0" bIns="0" rtlCol="0" anchor="ctr"/>
          <a:lstStyle/>
          <a:p>
            <a:pPr rtl="1" algn="r" indent="0" marL="0">
              <a:lnSpc>
                <a:spcPct val="112000"/>
              </a:lnSpc>
              <a:buNone/>
            </a:pPr>
            <a:r>
              <a:rPr lang="ar-EG" altLang="en-US" sz="1700" dirty="0">
                <a:solidFill>
                  <a:srgbClr val="123451"/>
                </a:solidFill>
                <a:latin typeface="Tahoma" pitchFamily="34" charset="0"/>
                <a:ea typeface="Tahoma" pitchFamily="34" charset="-122"/>
                <a:cs typeface="Tahoma" pitchFamily="34" charset="-120"/>
              </a:rPr>
              <a:t>التقارير وملاحظات الأداء</a:t>
            </a:r>
            <a:endParaRPr lang="ar-EG" sz="1700" dirty="0"/>
          </a:p>
        </p:txBody>
      </p:sp>
      <p:sp>
        <p:nvSpPr>
          <p:cNvPr id="24" name="Text 22"/>
          <p:cNvSpPr/>
          <p:nvPr/>
        </p:nvSpPr>
        <p:spPr>
          <a:xfrm>
            <a:off x="1280160" y="5623560"/>
            <a:ext cx="9601200" cy="393192"/>
          </a:xfrm>
          <a:prstGeom prst="rect">
            <a:avLst/>
          </a:prstGeom>
          <a:noFill/>
          <a:ln/>
        </p:spPr>
        <p:txBody>
          <a:bodyPr wrap="square" lIns="0" tIns="0" rIns="0" bIns="0" rtlCol="0" anchor="ctr"/>
          <a:lstStyle/>
          <a:p>
            <a:pPr rtl="1" algn="ctr" indent="0" marL="0">
              <a:lnSpc>
                <a:spcPct val="112000"/>
              </a:lnSpc>
              <a:buNone/>
            </a:pPr>
            <a:r>
              <a:rPr lang="ar-EG" altLang="en-US" sz="1800" dirty="0">
                <a:solidFill>
                  <a:srgbClr val="526779"/>
                </a:solidFill>
                <a:latin typeface="Tahoma" pitchFamily="34" charset="0"/>
                <a:ea typeface="Tahoma" pitchFamily="34" charset="-122"/>
                <a:cs typeface="Tahoma" pitchFamily="34" charset="-120"/>
              </a:rPr>
              <a:t>كل جزء يخدم خطوة في يومك… بدل متابعة التفاصيل بشكل متفرق.</a:t>
            </a:r>
            <a:endParaRPr lang="ar-EG"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ابدأ يومك بصورة واضحة.</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03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dashboard.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تابع حركة العيادة</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الحجوزات، والحضور، والانتظار في نظرة مجمّعة.</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اختَر ما تريد مراجعته</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راجع المؤشرات حسب العيادة والفترة المحددة.</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انتقل من الملخص للتفاصيل</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افتح تفاصيل المؤشرات المتاحة عند الحاجة.</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الأرقام المعروضة للشرح فقط</a:t>
            </a:r>
            <a:endParaRPr lang="ar-EG"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الحجز والدور… خطوات واضحة.</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04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reservations.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إدارة الحجوزات</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إنشاء المواعيد ومراجعتها وتعديلها من البوابة.</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متابعة الدور</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معرفة المنتظرين ومتابعة حالات التذاكر والخدمة.</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تنسيق الشغل مع الاستقبال</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العمل على حجوزات العيادة بحسب صلاحية كل مستخدم.</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بيانات التعريف محجوبة</a:t>
            </a:r>
            <a:endParaRPr lang="ar-EG"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سجل المريض حاضر وقت الكشف.</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05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patients.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سجل مرتبط بالمريض</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راجع زياراته وتشخيصاته وروشتاته المتاحة لك.</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توثيق الكشف</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سجّل بيانات الزيارة والتشخيص ضمن سير العمل.</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روشتة منظّمة</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إعداد الوصفة ومراجعتها وطباعتها عند الحاجة.</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بيانات التعريف محجوبة</a:t>
            </a:r>
            <a:endParaRPr lang="ar-EG"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عياداتك وفريقك… بتنظيم أوضح.</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06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practices.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نظّم مواعيد العيادة</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إدارة بيانات العيادة وجدول العمل وفتراته.</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حدّد دور كل مساعد</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إدارة فريق الاستقبال وتعيين صلاحيات العمل.</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حدّث بياناتك المهنية</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متابعة ملفك المهني وتخصصك وبيانات عياداتك.</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الأرقام المعروضة للشرح فقط</a:t>
            </a:r>
            <a:endParaRPr lang="ar-EG"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اعرف ما تم تحصيله… وما عليك.</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07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finance.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الحركة المالية والإيرادات</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راجع المدفوعات والتحصيل حسب العيادة والفترة.</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المصروفات والمستحقات</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سجّل المصروفات وتابع الخطط المتكررة والمبالغ المستحقة.</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رواتب فريق الاستقبال</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تابع خطط الرواتب والمبالغ المستحقة وإجراءات السداد.</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الأرقام المعروضة للشرح فقط</a:t>
            </a:r>
            <a:endParaRPr lang="ar-EG"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123451"/>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526779"/>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E3EAF0"/>
          </a:solidFill>
          <a:ln w="12700">
            <a:solidFill>
              <a:srgbClr val="E3EAF0">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123451"/>
                </a:solidFill>
                <a:latin typeface="Tahoma" pitchFamily="34" charset="0"/>
                <a:ea typeface="Tahoma" pitchFamily="34" charset="-122"/>
                <a:cs typeface="Tahoma" pitchFamily="34" charset="-120"/>
              </a:rPr>
              <a:t>حوّل الأرقام إلى متابعة مفهومة.</a:t>
            </a:r>
            <a:endParaRPr lang="ar-EG" sz="3000" dirty="0"/>
          </a:p>
        </p:txBody>
      </p:sp>
      <p:sp>
        <p:nvSpPr>
          <p:cNvPr id="6" name="Shape 4"/>
          <p:cNvSpPr/>
          <p:nvPr/>
        </p:nvSpPr>
        <p:spPr>
          <a:xfrm>
            <a:off x="640080" y="6318504"/>
            <a:ext cx="10908792" cy="10973"/>
          </a:xfrm>
          <a:prstGeom prst="rect">
            <a:avLst>
              <a:gd name="adj" fmla="val 999982"/>
            </a:avLst>
          </a:prstGeom>
          <a:solidFill>
            <a:srgbClr val="E3EAF0"/>
          </a:solidFill>
          <a:ln w="12700">
            <a:solidFill>
              <a:srgbClr val="E3EAF0">
                <a:alpha val="0"/>
              </a:srgbClr>
            </a:solidFill>
            <a:prstDash val="solid"/>
          </a:ln>
        </p:spPr>
      </p:sp>
      <p:sp>
        <p:nvSpPr>
          <p:cNvPr id="7" name="Text 5"/>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8" name="Text 6"/>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526779"/>
                </a:solidFill>
                <a:latin typeface="Tahoma" pitchFamily="34" charset="0"/>
                <a:ea typeface="Tahoma" pitchFamily="34" charset="-122"/>
                <a:cs typeface="Tahoma" pitchFamily="34" charset="-120"/>
              </a:rPr>
              <a:t>08 / 09</a:t>
            </a:r>
            <a:endParaRPr lang="ar-EG" sz="1000" dirty="0"/>
          </a:p>
        </p:txBody>
      </p:sp>
      <p:sp>
        <p:nvSpPr>
          <p:cNvPr id="9" name="Shape 7"/>
          <p:cNvSpPr/>
          <p:nvPr/>
        </p:nvSpPr>
        <p:spPr>
          <a:xfrm>
            <a:off x="621792" y="1837944"/>
            <a:ext cx="7626096" cy="4306824"/>
          </a:xfrm>
          <a:prstGeom prst="rect">
            <a:avLst>
              <a:gd name="adj" fmla="val 2548"/>
            </a:avLst>
          </a:prstGeom>
          <a:solidFill>
            <a:srgbClr val="E3EAF0"/>
          </a:solidFill>
          <a:ln w="12700">
            <a:solidFill>
              <a:srgbClr val="E3EAF0">
                <a:alpha val="0"/>
              </a:srgbClr>
            </a:solidFill>
            <a:prstDash val="solid"/>
          </a:ln>
        </p:spPr>
      </p:sp>
      <p:pic>
        <p:nvPicPr>
          <p:cNvPr id="10" name="Image 0" descr="C:\Users\mahmo\OneDrive\Desktop\Wasla\docs\presentations\doctor-portal\screenshots\reports.png">    </p:cNvPr>
          <p:cNvPicPr>
            <a:picLocks noChangeAspect="1"/>
          </p:cNvPicPr>
          <p:nvPr/>
        </p:nvPicPr>
        <p:blipFill>
          <a:blip r:embed="rId1"/>
          <a:stretch>
            <a:fillRect/>
          </a:stretch>
        </p:blipFill>
        <p:spPr>
          <a:xfrm>
            <a:off x="640080" y="1856232"/>
            <a:ext cx="7589520" cy="4269105"/>
          </a:xfrm>
          <a:prstGeom prst="rect">
            <a:avLst/>
          </a:prstGeom>
        </p:spPr>
      </p:pic>
      <p:sp>
        <p:nvSpPr>
          <p:cNvPr id="11" name="Text 8"/>
          <p:cNvSpPr/>
          <p:nvPr/>
        </p:nvSpPr>
        <p:spPr>
          <a:xfrm>
            <a:off x="8595360" y="2057400"/>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تقارير حسب الفترة والعيادة</a:t>
            </a:r>
            <a:endParaRPr lang="ar-EG" sz="1650" dirty="0"/>
          </a:p>
        </p:txBody>
      </p:sp>
      <p:sp>
        <p:nvSpPr>
          <p:cNvPr id="12" name="Text 9"/>
          <p:cNvSpPr/>
          <p:nvPr/>
        </p:nvSpPr>
        <p:spPr>
          <a:xfrm>
            <a:off x="8595360" y="2651760"/>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راجع الحجوزات، والطابور، ونشاط المرضى، والأداء المالي.</a:t>
            </a:r>
            <a:endParaRPr lang="ar-EG" sz="1400" dirty="0"/>
          </a:p>
        </p:txBody>
      </p:sp>
      <p:sp>
        <p:nvSpPr>
          <p:cNvPr id="13" name="Text 10"/>
          <p:cNvSpPr/>
          <p:nvPr/>
        </p:nvSpPr>
        <p:spPr>
          <a:xfrm>
            <a:off x="8595360" y="3410712"/>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مقارنة أوضح</a:t>
            </a:r>
            <a:endParaRPr lang="ar-EG" sz="1650" dirty="0"/>
          </a:p>
        </p:txBody>
      </p:sp>
      <p:sp>
        <p:nvSpPr>
          <p:cNvPr id="14" name="Text 11"/>
          <p:cNvSpPr/>
          <p:nvPr/>
        </p:nvSpPr>
        <p:spPr>
          <a:xfrm>
            <a:off x="8595360" y="4005072"/>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شاهد القيمة الحالية والسابقة وعدد الحالات المشمولة.</a:t>
            </a:r>
            <a:endParaRPr lang="ar-EG" sz="1400" dirty="0"/>
          </a:p>
        </p:txBody>
      </p:sp>
      <p:sp>
        <p:nvSpPr>
          <p:cNvPr id="15" name="Text 12"/>
          <p:cNvSpPr/>
          <p:nvPr/>
        </p:nvSpPr>
        <p:spPr>
          <a:xfrm>
            <a:off x="8595360" y="4764024"/>
            <a:ext cx="2907792" cy="548640"/>
          </a:xfrm>
          <a:prstGeom prst="rect">
            <a:avLst/>
          </a:prstGeom>
          <a:noFill/>
          <a:ln/>
        </p:spPr>
        <p:txBody>
          <a:bodyPr wrap="square" lIns="0" tIns="0" rIns="0" bIns="0" rtlCol="0" anchor="ctr"/>
          <a:lstStyle/>
          <a:p>
            <a:pPr rtl="1" algn="r" indent="0" marL="0">
              <a:lnSpc>
                <a:spcPct val="112000"/>
              </a:lnSpc>
              <a:buNone/>
            </a:pPr>
            <a:r>
              <a:rPr lang="ar-EG" altLang="en-US" sz="1650" b="1" dirty="0">
                <a:solidFill>
                  <a:srgbClr val="123451"/>
                </a:solidFill>
                <a:latin typeface="Tahoma" pitchFamily="34" charset="0"/>
                <a:ea typeface="Tahoma" pitchFamily="34" charset="-122"/>
                <a:cs typeface="Tahoma" pitchFamily="34" charset="-120"/>
              </a:rPr>
              <a:t>تفاصيل يمكن الرجوع لها</a:t>
            </a:r>
            <a:endParaRPr lang="ar-EG" sz="1650" dirty="0"/>
          </a:p>
        </p:txBody>
      </p:sp>
      <p:sp>
        <p:nvSpPr>
          <p:cNvPr id="16" name="Text 13"/>
          <p:cNvSpPr/>
          <p:nvPr/>
        </p:nvSpPr>
        <p:spPr>
          <a:xfrm>
            <a:off x="8595360" y="5358384"/>
            <a:ext cx="2907792" cy="658368"/>
          </a:xfrm>
          <a:prstGeom prst="rect">
            <a:avLst/>
          </a:prstGeom>
          <a:noFill/>
          <a:ln/>
        </p:spPr>
        <p:txBody>
          <a:bodyPr wrap="square" lIns="0" tIns="0" rIns="0" bIns="0" rtlCol="0" anchor="ctr"/>
          <a:lstStyle/>
          <a:p>
            <a:pPr rtl="1" algn="r" indent="0" marL="0">
              <a:lnSpc>
                <a:spcPct val="112000"/>
              </a:lnSpc>
              <a:buNone/>
            </a:pPr>
            <a:r>
              <a:rPr lang="ar-EG" altLang="en-US" sz="1400" dirty="0">
                <a:solidFill>
                  <a:srgbClr val="526779"/>
                </a:solidFill>
                <a:latin typeface="Tahoma" pitchFamily="34" charset="0"/>
                <a:ea typeface="Tahoma" pitchFamily="34" charset="-122"/>
                <a:cs typeface="Tahoma" pitchFamily="34" charset="-120"/>
              </a:rPr>
              <a:t>افتح التفاصيل وصدّر التقارير المتاح تصديرها.</a:t>
            </a:r>
            <a:endParaRPr lang="ar-EG" sz="1400" dirty="0"/>
          </a:p>
        </p:txBody>
      </p:sp>
      <p:sp>
        <p:nvSpPr>
          <p:cNvPr id="17" name="Text 14"/>
          <p:cNvSpPr/>
          <p:nvPr/>
        </p:nvSpPr>
        <p:spPr>
          <a:xfrm>
            <a:off x="640080" y="6181344"/>
            <a:ext cx="7589520" cy="164592"/>
          </a:xfrm>
          <a:prstGeom prst="rect">
            <a:avLst/>
          </a:prstGeom>
          <a:noFill/>
          <a:ln/>
        </p:spPr>
        <p:txBody>
          <a:bodyPr wrap="square" lIns="0" tIns="0" rIns="0" bIns="0" rtlCol="0" anchor="ctr"/>
          <a:lstStyle/>
          <a:p>
            <a:pPr rtl="1" algn="ctr" indent="0" marL="0">
              <a:lnSpc>
                <a:spcPct val="112000"/>
              </a:lnSpc>
              <a:buNone/>
            </a:pPr>
            <a:r>
              <a:rPr lang="ar-EG" altLang="en-US" sz="900" dirty="0">
                <a:solidFill>
                  <a:srgbClr val="526779"/>
                </a:solidFill>
                <a:latin typeface="Tahoma" pitchFamily="34" charset="0"/>
                <a:ea typeface="Tahoma" pitchFamily="34" charset="-122"/>
                <a:cs typeface="Tahoma" pitchFamily="34" charset="-120"/>
              </a:rPr>
              <a:t>لقطة فعلية من الحساب التجريبي · الأرقام المعروضة للشرح فقط</a:t>
            </a:r>
            <a:endParaRPr lang="ar-EG"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451"/>
        </a:solidFill>
      </p:bgPr>
    </p:bg>
    <p:spTree>
      <p:nvGrpSpPr>
        <p:cNvPr id="1" name=""/>
        <p:cNvGrpSpPr/>
        <p:nvPr/>
      </p:nvGrpSpPr>
      <p:grpSpPr>
        <a:xfrm>
          <a:off x="0" y="0"/>
          <a:ext cx="0" cy="0"/>
          <a:chOff x="0" y="0"/>
          <a:chExt cx="0" cy="0"/>
        </a:xfrm>
      </p:grpSpPr>
      <p:sp>
        <p:nvSpPr>
          <p:cNvPr id="2" name="Text 0"/>
          <p:cNvSpPr/>
          <p:nvPr/>
        </p:nvSpPr>
        <p:spPr>
          <a:xfrm>
            <a:off x="10808208" y="210312"/>
            <a:ext cx="749808" cy="457200"/>
          </a:xfrm>
          <a:prstGeom prst="rect">
            <a:avLst/>
          </a:prstGeom>
          <a:noFill/>
          <a:ln/>
        </p:spPr>
        <p:txBody>
          <a:bodyPr wrap="square" lIns="0" tIns="0" rIns="0" bIns="0" rtlCol="0" anchor="ctr"/>
          <a:lstStyle/>
          <a:p>
            <a:pPr rtl="1" algn="r" indent="0" marL="0">
              <a:lnSpc>
                <a:spcPct val="112000"/>
              </a:lnSpc>
              <a:buNone/>
            </a:pPr>
            <a:r>
              <a:rPr lang="ar-EG" altLang="en-US" sz="2400" b="1" dirty="0">
                <a:solidFill>
                  <a:srgbClr val="FFFFFF"/>
                </a:solidFill>
                <a:latin typeface="Tahoma" pitchFamily="34" charset="0"/>
                <a:ea typeface="Tahoma" pitchFamily="34" charset="-122"/>
                <a:cs typeface="Tahoma" pitchFamily="34" charset="-120"/>
              </a:rPr>
              <a:t>وصلة</a:t>
            </a:r>
            <a:endParaRPr lang="ar-EG" sz="2400" dirty="0"/>
          </a:p>
        </p:txBody>
      </p:sp>
      <p:sp>
        <p:nvSpPr>
          <p:cNvPr id="3" name="Text 1"/>
          <p:cNvSpPr/>
          <p:nvPr/>
        </p:nvSpPr>
        <p:spPr>
          <a:xfrm>
            <a:off x="640080" y="283464"/>
            <a:ext cx="2743200" cy="274320"/>
          </a:xfrm>
          <a:prstGeom prst="rect">
            <a:avLst/>
          </a:prstGeom>
          <a:noFill/>
          <a:ln/>
        </p:spPr>
        <p:txBody>
          <a:bodyPr wrap="square" lIns="0" tIns="0" rIns="0" bIns="0" rtlCol="0" anchor="ctr"/>
          <a:lstStyle/>
          <a:p>
            <a:pPr rtl="1" algn="l" indent="0" marL="0">
              <a:lnSpc>
                <a:spcPct val="112000"/>
              </a:lnSpc>
              <a:buNone/>
            </a:pPr>
            <a:r>
              <a:rPr lang="ar-EG" altLang="en-US" sz="1100" dirty="0">
                <a:solidFill>
                  <a:srgbClr val="B7D1DE"/>
                </a:solidFill>
                <a:latin typeface="Tahoma" pitchFamily="34" charset="0"/>
                <a:ea typeface="Tahoma" pitchFamily="34" charset="-122"/>
                <a:cs typeface="Tahoma" pitchFamily="34" charset="-120"/>
              </a:rPr>
              <a:t>بوابة الدكتور</a:t>
            </a:r>
            <a:endParaRPr lang="ar-EG" sz="1100" dirty="0"/>
          </a:p>
        </p:txBody>
      </p:sp>
      <p:sp>
        <p:nvSpPr>
          <p:cNvPr id="4" name="Shape 2"/>
          <p:cNvSpPr/>
          <p:nvPr/>
        </p:nvSpPr>
        <p:spPr>
          <a:xfrm>
            <a:off x="640080" y="859536"/>
            <a:ext cx="10908792" cy="10973"/>
          </a:xfrm>
          <a:prstGeom prst="rect">
            <a:avLst>
              <a:gd name="adj" fmla="val 999982"/>
            </a:avLst>
          </a:prstGeom>
          <a:solidFill>
            <a:srgbClr val="35556C"/>
          </a:solidFill>
          <a:ln w="12700">
            <a:solidFill>
              <a:srgbClr val="35556C">
                <a:alpha val="0"/>
              </a:srgbClr>
            </a:solidFill>
            <a:prstDash val="solid"/>
          </a:ln>
        </p:spPr>
      </p:sp>
      <p:sp>
        <p:nvSpPr>
          <p:cNvPr id="5" name="Text 3"/>
          <p:cNvSpPr/>
          <p:nvPr/>
        </p:nvSpPr>
        <p:spPr>
          <a:xfrm>
            <a:off x="640080" y="1133856"/>
            <a:ext cx="10881360" cy="585216"/>
          </a:xfrm>
          <a:prstGeom prst="rect">
            <a:avLst/>
          </a:prstGeom>
          <a:noFill/>
          <a:ln/>
        </p:spPr>
        <p:txBody>
          <a:bodyPr wrap="square" lIns="0" tIns="0" rIns="0" bIns="0" rtlCol="0" anchor="ctr"/>
          <a:lstStyle/>
          <a:p>
            <a:pPr rtl="1" algn="r" indent="0" marL="0">
              <a:lnSpc>
                <a:spcPct val="112000"/>
              </a:lnSpc>
              <a:buNone/>
            </a:pPr>
            <a:r>
              <a:rPr lang="ar-EG" altLang="en-US" sz="3000" b="1" dirty="0">
                <a:solidFill>
                  <a:srgbClr val="FFFFFF"/>
                </a:solidFill>
                <a:latin typeface="Tahoma" pitchFamily="34" charset="0"/>
                <a:ea typeface="Tahoma" pitchFamily="34" charset="-122"/>
                <a:cs typeface="Tahoma" pitchFamily="34" charset="-120"/>
              </a:rPr>
              <a:t>خلّينا نعرض وصلة على طريقة شغل عيادتك.</a:t>
            </a:r>
            <a:endParaRPr lang="ar-EG" sz="3000" dirty="0"/>
          </a:p>
        </p:txBody>
      </p:sp>
      <p:sp>
        <p:nvSpPr>
          <p:cNvPr id="6" name="Text 4"/>
          <p:cNvSpPr/>
          <p:nvPr/>
        </p:nvSpPr>
        <p:spPr>
          <a:xfrm>
            <a:off x="640080" y="1828800"/>
            <a:ext cx="10881360" cy="411480"/>
          </a:xfrm>
          <a:prstGeom prst="rect">
            <a:avLst/>
          </a:prstGeom>
          <a:noFill/>
          <a:ln/>
        </p:spPr>
        <p:txBody>
          <a:bodyPr wrap="square" lIns="0" tIns="0" rIns="0" bIns="0" rtlCol="0" anchor="ctr"/>
          <a:lstStyle/>
          <a:p>
            <a:pPr rtl="1" algn="r" indent="0" marL="0">
              <a:lnSpc>
                <a:spcPct val="112000"/>
              </a:lnSpc>
              <a:buNone/>
            </a:pPr>
            <a:r>
              <a:rPr lang="ar-EG" altLang="en-US" sz="1600" dirty="0">
                <a:solidFill>
                  <a:srgbClr val="C8DBE5"/>
                </a:solidFill>
                <a:latin typeface="Tahoma" pitchFamily="34" charset="0"/>
                <a:ea typeface="Tahoma" pitchFamily="34" charset="-122"/>
                <a:cs typeface="Tahoma" pitchFamily="34" charset="-120"/>
              </a:rPr>
              <a:t>عرض عملي قصير يربط إمكانيات البوابة باحتياجك اليومي.</a:t>
            </a:r>
            <a:endParaRPr lang="ar-EG" sz="1600" dirty="0"/>
          </a:p>
        </p:txBody>
      </p:sp>
      <p:sp>
        <p:nvSpPr>
          <p:cNvPr id="7" name="Shape 5"/>
          <p:cNvSpPr/>
          <p:nvPr/>
        </p:nvSpPr>
        <p:spPr>
          <a:xfrm>
            <a:off x="640080" y="6318504"/>
            <a:ext cx="10908792" cy="10973"/>
          </a:xfrm>
          <a:prstGeom prst="rect">
            <a:avLst>
              <a:gd name="adj" fmla="val 999982"/>
            </a:avLst>
          </a:prstGeom>
          <a:solidFill>
            <a:srgbClr val="35556C"/>
          </a:solidFill>
          <a:ln w="12700">
            <a:solidFill>
              <a:srgbClr val="35556C">
                <a:alpha val="0"/>
              </a:srgbClr>
            </a:solidFill>
            <a:prstDash val="solid"/>
          </a:ln>
        </p:spPr>
      </p:sp>
      <p:sp>
        <p:nvSpPr>
          <p:cNvPr id="8" name="Text 6"/>
          <p:cNvSpPr/>
          <p:nvPr/>
        </p:nvSpPr>
        <p:spPr>
          <a:xfrm>
            <a:off x="7315200" y="6437376"/>
            <a:ext cx="4206240" cy="201168"/>
          </a:xfrm>
          <a:prstGeom prst="rect">
            <a:avLst/>
          </a:prstGeom>
          <a:noFill/>
          <a:ln/>
        </p:spPr>
        <p:txBody>
          <a:bodyPr wrap="square" lIns="0" tIns="0" rIns="0" bIns="0" rtlCol="0" anchor="ctr"/>
          <a:lstStyle/>
          <a:p>
            <a:pPr rtl="1" algn="r" indent="0" marL="0">
              <a:lnSpc>
                <a:spcPct val="112000"/>
              </a:lnSpc>
              <a:buNone/>
            </a:pPr>
            <a:r>
              <a:rPr lang="ar-EG" altLang="en-US" sz="1000" dirty="0">
                <a:solidFill>
                  <a:srgbClr val="B7D1DE"/>
                </a:solidFill>
                <a:latin typeface="Tahoma" pitchFamily="34" charset="0"/>
                <a:ea typeface="Tahoma" pitchFamily="34" charset="-122"/>
                <a:cs typeface="Tahoma" pitchFamily="34" charset="-120"/>
              </a:rPr>
              <a:t>وصلة · رعاية أقرب، وإدارة أوضح</a:t>
            </a:r>
            <a:endParaRPr lang="ar-EG" sz="1000" dirty="0"/>
          </a:p>
        </p:txBody>
      </p:sp>
      <p:sp>
        <p:nvSpPr>
          <p:cNvPr id="9" name="Text 7"/>
          <p:cNvSpPr/>
          <p:nvPr/>
        </p:nvSpPr>
        <p:spPr>
          <a:xfrm>
            <a:off x="640080" y="6437376"/>
            <a:ext cx="914400" cy="201168"/>
          </a:xfrm>
          <a:prstGeom prst="rect">
            <a:avLst/>
          </a:prstGeom>
          <a:noFill/>
          <a:ln/>
        </p:spPr>
        <p:txBody>
          <a:bodyPr wrap="square" lIns="0" tIns="0" rIns="0" bIns="0" rtlCol="0" anchor="ctr"/>
          <a:lstStyle/>
          <a:p>
            <a:pPr rtl="1" algn="l" indent="0" marL="0">
              <a:lnSpc>
                <a:spcPct val="112000"/>
              </a:lnSpc>
              <a:buNone/>
            </a:pPr>
            <a:r>
              <a:rPr lang="ar-EG" altLang="en-US" sz="1000" dirty="0">
                <a:solidFill>
                  <a:srgbClr val="B7D1DE"/>
                </a:solidFill>
                <a:latin typeface="Tahoma" pitchFamily="34" charset="0"/>
                <a:ea typeface="Tahoma" pitchFamily="34" charset="-122"/>
                <a:cs typeface="Tahoma" pitchFamily="34" charset="-120"/>
              </a:rPr>
              <a:t>09 / 09</a:t>
            </a:r>
            <a:endParaRPr lang="ar-EG" sz="1000" dirty="0"/>
          </a:p>
        </p:txBody>
      </p:sp>
      <p:sp>
        <p:nvSpPr>
          <p:cNvPr id="10" name="Text 8"/>
          <p:cNvSpPr/>
          <p:nvPr/>
        </p:nvSpPr>
        <p:spPr>
          <a:xfrm>
            <a:off x="8092440" y="2688336"/>
            <a:ext cx="3383280" cy="329184"/>
          </a:xfrm>
          <a:prstGeom prst="rect">
            <a:avLst/>
          </a:prstGeom>
          <a:noFill/>
          <a:ln/>
        </p:spPr>
        <p:txBody>
          <a:bodyPr wrap="square" lIns="0" tIns="0" rIns="0" bIns="0" rtlCol="0" anchor="ctr"/>
          <a:lstStyle/>
          <a:p>
            <a:pPr rtl="1" algn="r" indent="0" marL="0">
              <a:lnSpc>
                <a:spcPct val="112000"/>
              </a:lnSpc>
              <a:buNone/>
            </a:pPr>
            <a:r>
              <a:rPr lang="ar-EG" altLang="en-US" sz="2100" b="1" dirty="0">
                <a:solidFill>
                  <a:srgbClr val="FFFFFF"/>
                </a:solidFill>
                <a:latin typeface="Tahoma" pitchFamily="34" charset="0"/>
                <a:ea typeface="Tahoma" pitchFamily="34" charset="-122"/>
                <a:cs typeface="Tahoma" pitchFamily="34" charset="-120"/>
              </a:rPr>
              <a:t>نبدأ بالعيادة</a:t>
            </a:r>
            <a:endParaRPr lang="ar-EG" sz="2100" dirty="0"/>
          </a:p>
        </p:txBody>
      </p:sp>
      <p:sp>
        <p:nvSpPr>
          <p:cNvPr id="11" name="Text 9"/>
          <p:cNvSpPr/>
          <p:nvPr/>
        </p:nvSpPr>
        <p:spPr>
          <a:xfrm>
            <a:off x="914400" y="2688336"/>
            <a:ext cx="6629400" cy="329184"/>
          </a:xfrm>
          <a:prstGeom prst="rect">
            <a:avLst/>
          </a:prstGeom>
          <a:noFill/>
          <a:ln/>
        </p:spPr>
        <p:txBody>
          <a:bodyPr wrap="square" lIns="0" tIns="0" rIns="0" bIns="0" rtlCol="0" anchor="ctr"/>
          <a:lstStyle/>
          <a:p>
            <a:pPr rtl="1" algn="r" indent="0" marL="0">
              <a:lnSpc>
                <a:spcPct val="112000"/>
              </a:lnSpc>
              <a:buNone/>
            </a:pPr>
            <a:r>
              <a:rPr lang="ar-EG" altLang="en-US" sz="1900" dirty="0">
                <a:solidFill>
                  <a:srgbClr val="C8DBE5"/>
                </a:solidFill>
                <a:latin typeface="Tahoma" pitchFamily="34" charset="0"/>
                <a:ea typeface="Tahoma" pitchFamily="34" charset="-122"/>
                <a:cs typeface="Tahoma" pitchFamily="34" charset="-120"/>
              </a:rPr>
              <a:t>مواعيد العمل وفريق الاستقبال</a:t>
            </a:r>
            <a:endParaRPr lang="ar-EG" sz="1900" dirty="0"/>
          </a:p>
        </p:txBody>
      </p:sp>
      <p:sp>
        <p:nvSpPr>
          <p:cNvPr id="12" name="Shape 10"/>
          <p:cNvSpPr/>
          <p:nvPr/>
        </p:nvSpPr>
        <p:spPr>
          <a:xfrm>
            <a:off x="914400" y="3273552"/>
            <a:ext cx="10561320" cy="10973"/>
          </a:xfrm>
          <a:prstGeom prst="rect">
            <a:avLst>
              <a:gd name="adj" fmla="val 999982"/>
            </a:avLst>
          </a:prstGeom>
          <a:solidFill>
            <a:srgbClr val="35556C"/>
          </a:solidFill>
          <a:ln w="12700">
            <a:solidFill>
              <a:srgbClr val="35556C">
                <a:alpha val="0"/>
              </a:srgbClr>
            </a:solidFill>
            <a:prstDash val="solid"/>
          </a:ln>
        </p:spPr>
      </p:sp>
      <p:sp>
        <p:nvSpPr>
          <p:cNvPr id="13" name="Text 11"/>
          <p:cNvSpPr/>
          <p:nvPr/>
        </p:nvSpPr>
        <p:spPr>
          <a:xfrm>
            <a:off x="8092440" y="3520440"/>
            <a:ext cx="3383280" cy="329184"/>
          </a:xfrm>
          <a:prstGeom prst="rect">
            <a:avLst/>
          </a:prstGeom>
          <a:noFill/>
          <a:ln/>
        </p:spPr>
        <p:txBody>
          <a:bodyPr wrap="square" lIns="0" tIns="0" rIns="0" bIns="0" rtlCol="0" anchor="ctr"/>
          <a:lstStyle/>
          <a:p>
            <a:pPr rtl="1" algn="r" indent="0" marL="0">
              <a:lnSpc>
                <a:spcPct val="112000"/>
              </a:lnSpc>
              <a:buNone/>
            </a:pPr>
            <a:r>
              <a:rPr lang="ar-EG" altLang="en-US" sz="2100" b="1" dirty="0">
                <a:solidFill>
                  <a:srgbClr val="FFFFFF"/>
                </a:solidFill>
                <a:latin typeface="Tahoma" pitchFamily="34" charset="0"/>
                <a:ea typeface="Tahoma" pitchFamily="34" charset="-122"/>
                <a:cs typeface="Tahoma" pitchFamily="34" charset="-120"/>
              </a:rPr>
              <a:t>نتابع زيارة مريض</a:t>
            </a:r>
            <a:endParaRPr lang="ar-EG" sz="2100" dirty="0"/>
          </a:p>
        </p:txBody>
      </p:sp>
      <p:sp>
        <p:nvSpPr>
          <p:cNvPr id="14" name="Text 12"/>
          <p:cNvSpPr/>
          <p:nvPr/>
        </p:nvSpPr>
        <p:spPr>
          <a:xfrm>
            <a:off x="914400" y="3520440"/>
            <a:ext cx="6629400" cy="329184"/>
          </a:xfrm>
          <a:prstGeom prst="rect">
            <a:avLst/>
          </a:prstGeom>
          <a:noFill/>
          <a:ln/>
        </p:spPr>
        <p:txBody>
          <a:bodyPr wrap="square" lIns="0" tIns="0" rIns="0" bIns="0" rtlCol="0" anchor="ctr"/>
          <a:lstStyle/>
          <a:p>
            <a:pPr rtl="1" algn="r" indent="0" marL="0">
              <a:lnSpc>
                <a:spcPct val="112000"/>
              </a:lnSpc>
              <a:buNone/>
            </a:pPr>
            <a:r>
              <a:rPr lang="ar-EG" altLang="en-US" sz="1900" dirty="0">
                <a:solidFill>
                  <a:srgbClr val="C8DBE5"/>
                </a:solidFill>
                <a:latin typeface="Tahoma" pitchFamily="34" charset="0"/>
                <a:ea typeface="Tahoma" pitchFamily="34" charset="-122"/>
                <a:cs typeface="Tahoma" pitchFamily="34" charset="-120"/>
              </a:rPr>
              <a:t>حجز، ودور، وكشف، وروشتة</a:t>
            </a:r>
            <a:endParaRPr lang="ar-EG" sz="1900" dirty="0"/>
          </a:p>
        </p:txBody>
      </p:sp>
      <p:sp>
        <p:nvSpPr>
          <p:cNvPr id="15" name="Shape 13"/>
          <p:cNvSpPr/>
          <p:nvPr/>
        </p:nvSpPr>
        <p:spPr>
          <a:xfrm>
            <a:off x="914400" y="4105656"/>
            <a:ext cx="10561320" cy="10973"/>
          </a:xfrm>
          <a:prstGeom prst="rect">
            <a:avLst>
              <a:gd name="adj" fmla="val 999982"/>
            </a:avLst>
          </a:prstGeom>
          <a:solidFill>
            <a:srgbClr val="35556C"/>
          </a:solidFill>
          <a:ln w="12700">
            <a:solidFill>
              <a:srgbClr val="35556C">
                <a:alpha val="0"/>
              </a:srgbClr>
            </a:solidFill>
            <a:prstDash val="solid"/>
          </a:ln>
        </p:spPr>
      </p:sp>
      <p:sp>
        <p:nvSpPr>
          <p:cNvPr id="16" name="Text 14"/>
          <p:cNvSpPr/>
          <p:nvPr/>
        </p:nvSpPr>
        <p:spPr>
          <a:xfrm>
            <a:off x="8092440" y="4352544"/>
            <a:ext cx="3383280" cy="329184"/>
          </a:xfrm>
          <a:prstGeom prst="rect">
            <a:avLst/>
          </a:prstGeom>
          <a:noFill/>
          <a:ln/>
        </p:spPr>
        <p:txBody>
          <a:bodyPr wrap="square" lIns="0" tIns="0" rIns="0" bIns="0" rtlCol="0" anchor="ctr"/>
          <a:lstStyle/>
          <a:p>
            <a:pPr rtl="1" algn="r" indent="0" marL="0">
              <a:lnSpc>
                <a:spcPct val="112000"/>
              </a:lnSpc>
              <a:buNone/>
            </a:pPr>
            <a:r>
              <a:rPr lang="ar-EG" altLang="en-US" sz="2100" b="1" dirty="0">
                <a:solidFill>
                  <a:srgbClr val="FFFFFF"/>
                </a:solidFill>
                <a:latin typeface="Tahoma" pitchFamily="34" charset="0"/>
                <a:ea typeface="Tahoma" pitchFamily="34" charset="-122"/>
                <a:cs typeface="Tahoma" pitchFamily="34" charset="-120"/>
              </a:rPr>
              <a:t>نراجع الصورة كاملة</a:t>
            </a:r>
            <a:endParaRPr lang="ar-EG" sz="2100" dirty="0"/>
          </a:p>
        </p:txBody>
      </p:sp>
      <p:sp>
        <p:nvSpPr>
          <p:cNvPr id="17" name="Text 15"/>
          <p:cNvSpPr/>
          <p:nvPr/>
        </p:nvSpPr>
        <p:spPr>
          <a:xfrm>
            <a:off x="914400" y="4352544"/>
            <a:ext cx="6629400" cy="329184"/>
          </a:xfrm>
          <a:prstGeom prst="rect">
            <a:avLst/>
          </a:prstGeom>
          <a:noFill/>
          <a:ln/>
        </p:spPr>
        <p:txBody>
          <a:bodyPr wrap="square" lIns="0" tIns="0" rIns="0" bIns="0" rtlCol="0" anchor="ctr"/>
          <a:lstStyle/>
          <a:p>
            <a:pPr rtl="1" algn="r" indent="0" marL="0">
              <a:lnSpc>
                <a:spcPct val="112000"/>
              </a:lnSpc>
              <a:buNone/>
            </a:pPr>
            <a:r>
              <a:rPr lang="ar-EG" altLang="en-US" sz="1900" dirty="0">
                <a:solidFill>
                  <a:srgbClr val="C8DBE5"/>
                </a:solidFill>
                <a:latin typeface="Tahoma" pitchFamily="34" charset="0"/>
                <a:ea typeface="Tahoma" pitchFamily="34" charset="-122"/>
                <a:cs typeface="Tahoma" pitchFamily="34" charset="-120"/>
              </a:rPr>
              <a:t>إيرادات، ومصروفات، وتقارير</a:t>
            </a:r>
            <a:endParaRPr lang="ar-EG" sz="1900" dirty="0"/>
          </a:p>
        </p:txBody>
      </p:sp>
      <p:sp>
        <p:nvSpPr>
          <p:cNvPr id="18" name="Shape 16"/>
          <p:cNvSpPr/>
          <p:nvPr/>
        </p:nvSpPr>
        <p:spPr>
          <a:xfrm>
            <a:off x="4087368" y="5513832"/>
            <a:ext cx="4023360" cy="475488"/>
          </a:xfrm>
          <a:prstGeom prst="roundRect">
            <a:avLst>
              <a:gd name="adj" fmla="val 23077"/>
            </a:avLst>
          </a:prstGeom>
          <a:solidFill>
            <a:srgbClr val="047C79"/>
          </a:solidFill>
          <a:ln w="12700">
            <a:solidFill>
              <a:srgbClr val="047C79">
                <a:alpha val="0"/>
              </a:srgbClr>
            </a:solidFill>
            <a:prstDash val="solid"/>
          </a:ln>
        </p:spPr>
      </p:sp>
      <p:sp>
        <p:nvSpPr>
          <p:cNvPr id="19" name="Text 17"/>
          <p:cNvSpPr/>
          <p:nvPr/>
        </p:nvSpPr>
        <p:spPr>
          <a:xfrm>
            <a:off x="4160520" y="5596128"/>
            <a:ext cx="3877056" cy="256032"/>
          </a:xfrm>
          <a:prstGeom prst="rect">
            <a:avLst/>
          </a:prstGeom>
          <a:noFill/>
          <a:ln/>
        </p:spPr>
        <p:txBody>
          <a:bodyPr wrap="square" lIns="0" tIns="0" rIns="0" bIns="0" rtlCol="0" anchor="ctr"/>
          <a:lstStyle/>
          <a:p>
            <a:pPr rtl="1" algn="ctr" indent="0" marL="0">
              <a:lnSpc>
                <a:spcPct val="112000"/>
              </a:lnSpc>
              <a:buNone/>
            </a:pPr>
            <a:r>
              <a:rPr lang="ar-EG" altLang="en-US" sz="1600" b="1" dirty="0">
                <a:solidFill>
                  <a:srgbClr val="FFFFFF"/>
                </a:solidFill>
                <a:latin typeface="Tahoma" pitchFamily="34" charset="0"/>
                <a:ea typeface="Tahoma" pitchFamily="34" charset="-122"/>
                <a:cs typeface="Tahoma" pitchFamily="34" charset="-120"/>
              </a:rPr>
              <a:t>نبدأ بتجربة عملية لبوابة الدكتور؟</a:t>
            </a:r>
            <a:endParaRPr lang="ar-EG"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Wasla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وصلة | بوابة الدكتور</dc:title>
  <dc:subject>PptxGenJS Presentation</dc:subject>
  <dc:creator>Wasla</dc:creator>
  <cp:lastModifiedBy>Wasla</cp:lastModifiedBy>
  <cp:revision>1</cp:revision>
  <dcterms:created xsi:type="dcterms:W3CDTF">2026-10-31T15:10:46Z</dcterms:created>
  <dcterms:modified xsi:type="dcterms:W3CDTF">2026-10-31T15:10:46Z</dcterms:modified>
</cp:coreProperties>
</file>